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457200" cy="457200"/>
          </a:xfrm>
          <a:prstGeom prst="rect">
            <a:avLst>
              <a:gd name="adj" fmla="val 16000"/>
            </a:avLst>
          </a:prstGeom>
          <a:solidFill>
            <a:srgbClr val="142418"/>
          </a:solidFill>
          <a:ln w="6350">
            <a:solidFill>
              <a:srgbClr val="22C5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21792"/>
            <a:ext cx="457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22C5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34440" y="6858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A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Parasocial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863840" y="841248"/>
            <a:ext cx="128016" cy="128016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92440" y="71323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Base + Solana   ·   Real onchain txs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dirty="0">
                <a:solidFill>
                  <a:srgbClr val="FAFA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Parasocial.</a:t>
            </a:r>
            <a:endParaRPr lang="en-US" sz="15000" dirty="0"/>
          </a:p>
        </p:txBody>
      </p:sp>
      <p:sp>
        <p:nvSpPr>
          <p:cNvPr id="8" name="Text 6"/>
          <p:cNvSpPr/>
          <p:nvPr/>
        </p:nvSpPr>
        <p:spPr>
          <a:xfrm>
            <a:off x="640080" y="44805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AFA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Copy smart money onchain.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5074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i="1" dirty="0">
                <a:solidFill>
                  <a:srgbClr val="A1A1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After you know who's actually smart.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640080" y="6355080"/>
            <a:ext cx="10881360" cy="0"/>
          </a:xfrm>
          <a:prstGeom prst="line">
            <a:avLst/>
          </a:prstGeom>
          <a:noFill/>
          <a:ln w="6350">
            <a:solidFill>
              <a:srgbClr val="23232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2026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8638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COLOSSEUM FRONTIER × ZERION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40664"/>
            <a:ext cx="164592" cy="16459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96112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/  PROBLEM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8321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dirty="0">
                <a:solidFill>
                  <a:srgbClr val="FAFA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Copy trading is a billion-dollar market.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640080" y="310896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Banana Gun does roughly $4B/year in volume. Maestro and Unibot, similar. But none answer the only question that matters: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41148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rgbClr val="FAFA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wallets do you actually trust?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144000" y="1280160"/>
            <a:ext cx="0" cy="4389120"/>
          </a:xfrm>
          <a:prstGeom prst="line">
            <a:avLst/>
          </a:prstGeom>
          <a:noFill/>
          <a:ln w="6350">
            <a:solidFill>
              <a:srgbClr val="23232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418320" y="1280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FAILURE MODE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418320" y="1645920"/>
            <a:ext cx="2377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“smart money” feeds surface whoever's loudest — not whoever's right. Leaderboards reward visibility, not realized PnL.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6355080"/>
            <a:ext cx="10881360" cy="0"/>
          </a:xfrm>
          <a:prstGeom prst="line">
            <a:avLst/>
          </a:prstGeom>
          <a:noFill/>
          <a:ln w="6350">
            <a:solidFill>
              <a:srgbClr val="23232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PARASOCIAL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8638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COLOSSEUM FRONTIER × ZERION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40664"/>
            <a:ext cx="164592" cy="16459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96112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/  SOLUTION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10881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FAFA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credibility score before you ape.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640080" y="2834640"/>
            <a:ext cx="3444240" cy="0"/>
          </a:xfrm>
          <a:prstGeom prst="line">
            <a:avLst/>
          </a:prstGeom>
          <a:noFill/>
          <a:ln w="6350">
            <a:solidFill>
              <a:srgbClr val="23232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108960"/>
            <a:ext cx="344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CREDIBILITY SCORE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3383280"/>
            <a:ext cx="344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AFA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Scored, not ranked.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4114800"/>
            <a:ext cx="3444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PnL, overall win rate, asset-specific win rate, recency. Auto-flags dust-inflated wallets.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58640" y="2834640"/>
            <a:ext cx="3444240" cy="0"/>
          </a:xfrm>
          <a:prstGeom prst="line">
            <a:avLst/>
          </a:prstGeom>
          <a:noFill/>
          <a:ln w="6350">
            <a:solidFill>
              <a:srgbClr val="2323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58640" y="3108960"/>
            <a:ext cx="344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ONE-TAP MIRROR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58640" y="3383280"/>
            <a:ext cx="344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AFA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Watch, alert, tap.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358640" y="4114800"/>
            <a:ext cx="3444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Poller catches every trade from a watched wallet. You get a scored alert and a single button. Swap settles in roughly 15 seconds.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77200" y="2834640"/>
            <a:ext cx="3444240" cy="0"/>
          </a:xfrm>
          <a:prstGeom prst="line">
            <a:avLst/>
          </a:prstGeom>
          <a:noFill/>
          <a:ln w="6350">
            <a:solidFill>
              <a:srgbClr val="23232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77200" y="3108960"/>
            <a:ext cx="344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DCA ON RAILS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077200" y="3383280"/>
            <a:ext cx="344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AFA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Auto-buy on a schedule.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8077200" y="4114800"/>
            <a:ext cx="3444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/dca ETH 5 hourly base. Runs on a 30-second scheduler. Persists. Every tick hits the same policy gate.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6355080"/>
            <a:ext cx="10881360" cy="0"/>
          </a:xfrm>
          <a:prstGeom prst="line">
            <a:avLst/>
          </a:prstGeom>
          <a:noFill/>
          <a:ln w="6350">
            <a:solidFill>
              <a:srgbClr val="23232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PARASOCIAL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8638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COLOSSEUM FRONTIER × ZERION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40664"/>
            <a:ext cx="164592" cy="16459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96112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/  HOW IT WORKS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10881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AFA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steps from message to onchain tx.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40080" y="2743200"/>
            <a:ext cx="2583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3154680"/>
            <a:ext cx="2308860" cy="0"/>
          </a:xfrm>
          <a:prstGeom prst="line">
            <a:avLst/>
          </a:prstGeom>
          <a:noFill/>
          <a:ln w="8890">
            <a:solidFill>
              <a:srgbClr val="22C5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291840"/>
            <a:ext cx="2583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AFA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Generate wallets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4023360"/>
            <a:ext cx="24003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/wallet auto-creates an EVM key and a Solana keypair. AES-256-GCM encrypted, scrypt-derived per-user.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406140" y="2743200"/>
            <a:ext cx="2583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406140" y="3154680"/>
            <a:ext cx="2308860" cy="0"/>
          </a:xfrm>
          <a:prstGeom prst="line">
            <a:avLst/>
          </a:prstGeom>
          <a:noFill/>
          <a:ln w="8890">
            <a:solidFill>
              <a:srgbClr val="22C5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06140" y="3291840"/>
            <a:ext cx="2583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AFA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Fund the address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406140" y="4023360"/>
            <a:ext cx="24003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USDC (and a little gas) to the deposit address. /balance confirms.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172200" y="2743200"/>
            <a:ext cx="2583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72200" y="3154680"/>
            <a:ext cx="2308860" cy="0"/>
          </a:xfrm>
          <a:prstGeom prst="line">
            <a:avLst/>
          </a:prstGeom>
          <a:noFill/>
          <a:ln w="8890">
            <a:solidFill>
              <a:srgbClr val="22C5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72200" y="3291840"/>
            <a:ext cx="2583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AFA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Watch or DCA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172200" y="4023360"/>
            <a:ext cx="24003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/watch 0x... for copy-trading. /dca ETH 5 hourly base for scheduled buys. Policies apply to both.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938260" y="2743200"/>
            <a:ext cx="2583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938260" y="3154680"/>
            <a:ext cx="2308860" cy="0"/>
          </a:xfrm>
          <a:prstGeom prst="line">
            <a:avLst/>
          </a:prstGeom>
          <a:noFill/>
          <a:ln w="8890">
            <a:solidFill>
              <a:srgbClr val="22C5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38260" y="3291840"/>
            <a:ext cx="2583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AFA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 &amp; broadcast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938260" y="4023360"/>
            <a:ext cx="24003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quotes Zerion /swap/offers, signs with viem (EVM) or ed25519 (Solana), broadcasts. Real tx hash.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A1A1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Telegram message to confirmed tx in roughly 15 seconds.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40080" y="6355080"/>
            <a:ext cx="10881360" cy="0"/>
          </a:xfrm>
          <a:prstGeom prst="line">
            <a:avLst/>
          </a:prstGeom>
          <a:noFill/>
          <a:ln w="6350">
            <a:solidFill>
              <a:srgbClr val="23232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PARASOCIAL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8638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COLOSSEUM FRONTIER × ZERION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40664"/>
            <a:ext cx="164592" cy="16459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96112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/  CREDIBILITY SCORING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10881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AFA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Realized PnL is the honest signal.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40080" y="274320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Vitalik.eth shows −99% total PnL — his wallet is polluted by ENS names and received airdrops inflating total-invested.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11480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A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score auto-detects this and falls back to realized PnL only: +10.3%. That's the number a copy-trader actually needs.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766560" y="2560320"/>
            <a:ext cx="4754880" cy="2286000"/>
          </a:xfrm>
          <a:prstGeom prst="rect">
            <a:avLst/>
          </a:prstGeom>
          <a:solidFill>
            <a:srgbClr val="111111"/>
          </a:solidFill>
          <a:ln w="6350">
            <a:solidFill>
              <a:srgbClr val="23232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0880" y="26974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040880" y="3063240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AF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 = 0.4 · realized_pnl_norm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AF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+ 0.3 · overall_win_rate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AF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+ 0.2 · asset_win_rate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AF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+ 0.1 · recency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040880" y="50749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0080" y="53949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≥75  Hot hand    </a:t>
            </a:r>
            <a:pPr indent="0" marL="0">
              <a:buNone/>
            </a:pPr>
            <a:r>
              <a:rPr lang="en-US" sz="13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≥50  Diamond hands    </a:t>
            </a:r>
            <a:pPr indent="0" marL="0">
              <a:buNone/>
            </a:pPr>
            <a:r>
              <a:rPr lang="en-US" sz="13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≥25  Mixed bag    </a:t>
            </a:r>
            <a:pPr indent="0" marL="0">
              <a:buNone/>
            </a:pPr>
            <a:r>
              <a:rPr lang="en-US" sz="1300" dirty="0">
                <a:solidFill>
                  <a:srgbClr val="7171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&lt;25  Bag holder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6355080"/>
            <a:ext cx="10881360" cy="0"/>
          </a:xfrm>
          <a:prstGeom prst="line">
            <a:avLst/>
          </a:prstGeom>
          <a:noFill/>
          <a:ln w="6350">
            <a:solidFill>
              <a:srgbClr val="23232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PARASOCIAL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8638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COLOSSEUM FRONTIER × ZERION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40664"/>
            <a:ext cx="164592" cy="16459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96112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/  SCOPED POLICIES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10881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AFA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swap, every tick, gated.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40080" y="23317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 taps and DCA ticks funnel through one checkPolicy() call. No bypass. No god-mode agent.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3063240"/>
            <a:ext cx="10881360" cy="0"/>
          </a:xfrm>
          <a:prstGeom prst="line">
            <a:avLst/>
          </a:prstGeom>
          <a:noFill/>
          <a:ln w="6350">
            <a:solidFill>
              <a:srgbClr val="2323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154680"/>
            <a:ext cx="59847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$ per trade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624828" y="3154680"/>
            <a:ext cx="47594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FAFA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40080" y="3566160"/>
            <a:ext cx="10881360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657600"/>
            <a:ext cx="59847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spend limit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24828" y="3657600"/>
            <a:ext cx="47594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FAFA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$200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0080" y="4069080"/>
            <a:ext cx="10881360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160520"/>
            <a:ext cx="59847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 chains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624828" y="4160520"/>
            <a:ext cx="47594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FAFA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ethereum, base, solana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40080" y="4572000"/>
            <a:ext cx="10881360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663440"/>
            <a:ext cx="59847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Slippage cap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24828" y="4663440"/>
            <a:ext cx="47594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FAFA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0.5%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40080" y="5074920"/>
            <a:ext cx="10881360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5166360"/>
            <a:ext cx="59847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Cooldown between trades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624828" y="5166360"/>
            <a:ext cx="47594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FAFA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min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40080" y="5577840"/>
            <a:ext cx="10881360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5669280"/>
            <a:ext cx="59847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Auto-mirror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624828" y="5669280"/>
            <a:ext cx="47594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FAFA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off by default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640080" y="6080760"/>
            <a:ext cx="10881360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03504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Rejections surface with a clear reason in the audit log. The schedule keeps running.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6355080"/>
            <a:ext cx="10881360" cy="0"/>
          </a:xfrm>
          <a:prstGeom prst="line">
            <a:avLst/>
          </a:prstGeom>
          <a:noFill/>
          <a:ln w="6350">
            <a:solidFill>
              <a:srgbClr val="23232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PARASOCIAL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8638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COLOSSEUM FRONTIER × ZERION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40664"/>
            <a:ext cx="164592" cy="16459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96112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/  ARCHITECTURE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FAFA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primitive. Every path funnels through it.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640080" y="2651760"/>
            <a:ext cx="8229600" cy="731520"/>
          </a:xfrm>
          <a:prstGeom prst="rect">
            <a:avLst/>
          </a:prstGeom>
          <a:solidFill>
            <a:srgbClr val="111111"/>
          </a:solidFill>
          <a:ln w="6350">
            <a:solidFill>
              <a:srgbClr val="23232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743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30175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A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   →   grammy runner (concurrent handlers)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3611880"/>
            <a:ext cx="8229600" cy="731520"/>
          </a:xfrm>
          <a:prstGeom prst="rect">
            <a:avLst/>
          </a:prstGeom>
          <a:solidFill>
            <a:srgbClr val="111111"/>
          </a:solidFill>
          <a:ln w="6350">
            <a:solidFill>
              <a:srgbClr val="23232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703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3977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AF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/wallet</a:t>
            </a:r>
            <a:pPr indent="0" marL="0">
              <a:buNone/>
            </a:pPr>
            <a:r>
              <a:rPr lang="en-US" sz="1500" dirty="0">
                <a:solidFill>
                  <a:srgbClr val="71717A"/>
                </a:solidFill>
              </a:rPr>
              <a:t>     ·     </a:t>
            </a:r>
            <a:pPr indent="0" marL="0">
              <a:buNone/>
            </a:pPr>
            <a:r>
              <a:rPr lang="en-US" sz="1500" dirty="0">
                <a:solidFill>
                  <a:srgbClr val="FAF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/watch</a:t>
            </a:r>
            <a:pPr indent="0" marL="0">
              <a:buNone/>
            </a:pPr>
            <a:r>
              <a:rPr lang="en-US" sz="1500" dirty="0">
                <a:solidFill>
                  <a:srgbClr val="71717A"/>
                </a:solidFill>
              </a:rPr>
              <a:t>     ·     </a:t>
            </a:r>
            <a:pPr indent="0" marL="0">
              <a:buNone/>
            </a:pPr>
            <a:r>
              <a:rPr lang="en-US" sz="1500" dirty="0">
                <a:solidFill>
                  <a:srgbClr val="FAF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/dca</a:t>
            </a:r>
            <a:pPr indent="0" marL="0">
              <a:buNone/>
            </a:pPr>
            <a:r>
              <a:rPr lang="en-US" sz="1500" dirty="0">
                <a:solidFill>
                  <a:srgbClr val="71717A"/>
                </a:solidFill>
              </a:rPr>
              <a:t>     ·     </a:t>
            </a:r>
            <a:pPr indent="0" marL="0">
              <a:buNone/>
            </a:pPr>
            <a:r>
              <a:rPr lang="en-US" sz="1500" dirty="0">
                <a:solidFill>
                  <a:srgbClr val="FAFAF9"/>
                </a:solidFill>
              </a:rPr>
              <a:t>Mirror tap</a:t>
            </a:r>
            <a:pPr indent="0" marL="0">
              <a:buNone/>
            </a:pPr>
            <a:r>
              <a:rPr lang="en-US" sz="1500" dirty="0">
                <a:solidFill>
                  <a:srgbClr val="71717A"/>
                </a:solidFill>
              </a:rPr>
              <a:t>     ·     </a:t>
            </a:r>
            <a:pPr indent="0" marL="0">
              <a:buNone/>
            </a:pPr>
            <a:r>
              <a:rPr lang="en-US" sz="1500" dirty="0">
                <a:solidFill>
                  <a:srgbClr val="FAF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/balance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572000"/>
            <a:ext cx="8229600" cy="1280160"/>
          </a:xfrm>
          <a:prstGeom prst="rect">
            <a:avLst/>
          </a:prstGeom>
          <a:solidFill>
            <a:srgbClr val="142418"/>
          </a:solidFill>
          <a:ln w="8890">
            <a:solidFill>
              <a:srgbClr val="22C5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46817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PRIMITIVE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" y="4937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AF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buyAssetWithUsdc()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68680" y="54406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check   →   Zerion /swap/offers   →   approve USDC   →   sign (viem or ed25519)   →   broadcast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144000" y="2651760"/>
            <a:ext cx="0" cy="3200400"/>
          </a:xfrm>
          <a:prstGeom prst="line">
            <a:avLst/>
          </a:prstGeom>
          <a:noFill/>
          <a:ln w="6350">
            <a:solidFill>
              <a:srgbClr val="23232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18320" y="26517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CONNECTS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418320" y="3017520"/>
            <a:ext cx="2377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Zerion REST for swap offers, pnl, and history. Zerion CLI kept only for history polling. viem + @solana/web3.js handle signing locally on a per-user key.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355080"/>
            <a:ext cx="10881360" cy="0"/>
          </a:xfrm>
          <a:prstGeom prst="line">
            <a:avLst/>
          </a:prstGeom>
          <a:noFill/>
          <a:ln w="6350">
            <a:solidFill>
              <a:srgbClr val="23232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PARASOCIAL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638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COLOSSEUM FRONTIER × ZERION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40664"/>
            <a:ext cx="164592" cy="16459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96112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/  WHAT WE BUILT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10881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AFA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we extended Zerion CLI.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ZERION CLI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2971800"/>
            <a:ext cx="5257800" cy="0"/>
          </a:xfrm>
          <a:prstGeom prst="line">
            <a:avLst/>
          </a:prstGeom>
          <a:noFill/>
          <a:ln w="6350">
            <a:solidFill>
              <a:srgbClr val="2323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20040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AFA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Swap routing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356616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/swap/offers endpoint for quotes and transactions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406908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AFA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Wallet analysis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0080" y="443484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history, pnl, portfolio, positions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493776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AFA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Solana tx format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" y="530352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+ legacy deserialization reference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263640" y="265176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ADDED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63640" y="2971800"/>
            <a:ext cx="5257800" cy="0"/>
          </a:xfrm>
          <a:prstGeom prst="line">
            <a:avLst/>
          </a:prstGeom>
          <a:noFill/>
          <a:ln w="8890">
            <a:solidFill>
              <a:srgbClr val="22C5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63640" y="320040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custodial wallets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63640" y="3419856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EVM + Solana, AES-256-GCM + scrypt per-user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263640" y="365760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Credibility scoring engine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63640" y="3877056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PnL, win rate, asset win rate, recency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263640" y="411480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 interface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263640" y="4334256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grammy + runner for concurrent handlers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263640" y="457200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DCA scheduler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4791456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30-second tick, persisted in SQLite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263640" y="502920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policy engine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5248656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caps, one checkPolicy() gate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263640" y="548640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buyAssetWithUsdc()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263640" y="5705856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primitive for mirror + DCA + future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0080" y="598932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 bots need unattended wallet generation per user. The CLI's interactive wallet create wasn't bot-shaped. Full friction log in repo.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6355080"/>
            <a:ext cx="10881360" cy="0"/>
          </a:xfrm>
          <a:prstGeom prst="line">
            <a:avLst/>
          </a:prstGeom>
          <a:noFill/>
          <a:ln w="6350">
            <a:solidFill>
              <a:srgbClr val="23232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PARASOCIAL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8638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COLOSSEUM FRONTIER × ZERION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40664"/>
            <a:ext cx="164592" cy="16459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96112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/ 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10881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AFA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bot — @FrankRealBot.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40080" y="23317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 demo running 24/7 on Railway with a persistent SQLite volume. Code open-source. Real onchain txs confirmed on Basescan and Solscan.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3474720"/>
            <a:ext cx="3444240" cy="1828800"/>
          </a:xfrm>
          <a:prstGeom prst="rect">
            <a:avLst/>
          </a:prstGeom>
          <a:solidFill>
            <a:srgbClr val="111111"/>
          </a:solidFill>
          <a:ln w="6350">
            <a:solidFill>
              <a:srgbClr val="23232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3474720"/>
            <a:ext cx="73152" cy="18288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794760"/>
            <a:ext cx="298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60120" y="4206240"/>
            <a:ext cx="298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AF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t.me/FrankRealBot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58640" y="3474720"/>
            <a:ext cx="3444240" cy="1828800"/>
          </a:xfrm>
          <a:prstGeom prst="rect">
            <a:avLst/>
          </a:prstGeom>
          <a:solidFill>
            <a:srgbClr val="111111"/>
          </a:solidFill>
          <a:ln w="6350">
            <a:solidFill>
              <a:srgbClr val="23232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58640" y="3474720"/>
            <a:ext cx="73152" cy="18288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78680" y="3794760"/>
            <a:ext cx="298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678680" y="4206240"/>
            <a:ext cx="298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AF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github.com/frederik-maker/parasocial-bot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077200" y="3474720"/>
            <a:ext cx="3444240" cy="1828800"/>
          </a:xfrm>
          <a:prstGeom prst="rect">
            <a:avLst/>
          </a:prstGeom>
          <a:solidFill>
            <a:srgbClr val="111111"/>
          </a:solidFill>
          <a:ln w="6350">
            <a:solidFill>
              <a:srgbClr val="23232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77200" y="3474720"/>
            <a:ext cx="73152" cy="18288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97240" y="3794760"/>
            <a:ext cx="298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97240" y="4206240"/>
            <a:ext cx="298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AF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frederik-maker.github.io/parasocial-bot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" y="58521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1A1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swap signed by a per-user key. Every swap policy-gated. No simulations.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40080" y="6355080"/>
            <a:ext cx="10881360" cy="0"/>
          </a:xfrm>
          <a:prstGeom prst="line">
            <a:avLst/>
          </a:prstGeom>
          <a:noFill/>
          <a:ln w="6350">
            <a:solidFill>
              <a:srgbClr val="23232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PARASOCIAL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638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COLOSSEUM FRONTIER × ZERION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85800"/>
            <a:ext cx="640080" cy="7315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103120"/>
            <a:ext cx="108813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0" dirty="0">
                <a:solidFill>
                  <a:srgbClr val="FAFA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Parasocial</a:t>
            </a:r>
            <a:endParaRPr lang="en-US" sz="14000" dirty="0"/>
          </a:p>
        </p:txBody>
      </p:sp>
      <p:sp>
        <p:nvSpPr>
          <p:cNvPr id="4" name="Text 2"/>
          <p:cNvSpPr/>
          <p:nvPr/>
        </p:nvSpPr>
        <p:spPr>
          <a:xfrm>
            <a:off x="640080" y="49377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A1A1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by Frederik Bussler.  Forked Zerion CLI.  Real onchain.  No god-mode agents.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4944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COLOSSEUM FRONTIER × ZERION  ·  APR 2026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6355080"/>
            <a:ext cx="10881360" cy="0"/>
          </a:xfrm>
          <a:prstGeom prst="line">
            <a:avLst/>
          </a:prstGeom>
          <a:noFill/>
          <a:ln w="6350">
            <a:solidFill>
              <a:srgbClr val="232323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Parasocial</dc:title>
  <dc:subject>PptxGenJS Presentation</dc:subject>
  <dc:creator>Frederik Bussler</dc:creator>
  <cp:lastModifiedBy>Frederik Bussler</cp:lastModifiedBy>
  <cp:revision>1</cp:revision>
  <dcterms:created xsi:type="dcterms:W3CDTF">2026-04-20T04:30:44Z</dcterms:created>
  <dcterms:modified xsi:type="dcterms:W3CDTF">2026-04-20T04:30:44Z</dcterms:modified>
</cp:coreProperties>
</file>